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5"/>
    <p:sldMasterId id="214748368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5143500" cx="9144000"/>
  <p:notesSz cx="6858000" cy="9144000"/>
  <p:embeddedFontLst>
    <p:embeddedFont>
      <p:font typeface="Lexend Giga"/>
      <p:regular r:id="rId47"/>
      <p:bold r:id="rId48"/>
    </p:embeddedFont>
    <p:embeddedFont>
      <p:font typeface="Plus Jakarta Sans ExtraBold"/>
      <p:bold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Lexend Deca Medium"/>
      <p:regular r:id="rId55"/>
      <p:bold r:id="rId56"/>
    </p:embeddedFont>
    <p:embeddedFont>
      <p:font typeface="Lexend Deca Light"/>
      <p:regular r:id="rId57"/>
      <p:bold r:id="rId58"/>
    </p:embeddedFont>
    <p:embeddedFont>
      <p:font typeface="Inter"/>
      <p:regular r:id="rId59"/>
      <p:bold r:id="rId60"/>
      <p:italic r:id="rId61"/>
      <p:boldItalic r:id="rId62"/>
    </p:embeddedFont>
    <p:embeddedFont>
      <p:font typeface="Plus Jakarta Sans"/>
      <p:regular r:id="rId63"/>
      <p:bold r:id="rId64"/>
      <p:italic r:id="rId65"/>
      <p:boldItalic r:id="rId66"/>
    </p:embeddedFont>
    <p:embeddedFont>
      <p:font typeface="Plus Jakarta Sans Medium"/>
      <p:regular r:id="rId67"/>
      <p:bold r:id="rId68"/>
      <p:italic r:id="rId69"/>
      <p:boldItalic r:id="rId70"/>
    </p:embeddedFont>
    <p:embeddedFont>
      <p:font typeface="Roboto Mono"/>
      <p:regular r:id="rId71"/>
      <p:bold r:id="rId72"/>
      <p:italic r:id="rId73"/>
      <p:boldItalic r:id="rId74"/>
    </p:embeddedFont>
    <p:embeddedFont>
      <p:font typeface="Lexend Deca"/>
      <p:regular r:id="rId75"/>
      <p:bold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D39232-514E-4350-BF1E-C02A8D8E9897}">
  <a:tblStyle styleId="{85D39232-514E-4350-BF1E-C02A8D8E98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exendGiga-bold.fntdata"/><Relationship Id="rId47" Type="http://schemas.openxmlformats.org/officeDocument/2006/relationships/font" Target="fonts/LexendGiga-regular.fntdata"/><Relationship Id="rId49" Type="http://schemas.openxmlformats.org/officeDocument/2006/relationships/font" Target="fonts/PlusJakartaSansExtra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obotoMono-italic.fntdata"/><Relationship Id="rId72" Type="http://schemas.openxmlformats.org/officeDocument/2006/relationships/font" Target="fonts/RobotoMono-bold.fntdata"/><Relationship Id="rId31" Type="http://schemas.openxmlformats.org/officeDocument/2006/relationships/slide" Target="slides/slide24.xml"/><Relationship Id="rId75" Type="http://schemas.openxmlformats.org/officeDocument/2006/relationships/font" Target="fonts/LexendDeca-regular.fntdata"/><Relationship Id="rId30" Type="http://schemas.openxmlformats.org/officeDocument/2006/relationships/slide" Target="slides/slide23.xml"/><Relationship Id="rId74" Type="http://schemas.openxmlformats.org/officeDocument/2006/relationships/font" Target="fonts/RobotoMono-bold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76" Type="http://schemas.openxmlformats.org/officeDocument/2006/relationships/font" Target="fonts/LexendDeca-bold.fntdata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RobotoMono-regular.fntdata"/><Relationship Id="rId70" Type="http://schemas.openxmlformats.org/officeDocument/2006/relationships/font" Target="fonts/PlusJakartaSansMedium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Inter-boldItalic.fntdata"/><Relationship Id="rId61" Type="http://schemas.openxmlformats.org/officeDocument/2006/relationships/font" Target="fonts/Inter-italic.fntdata"/><Relationship Id="rId20" Type="http://schemas.openxmlformats.org/officeDocument/2006/relationships/slide" Target="slides/slide13.xml"/><Relationship Id="rId64" Type="http://schemas.openxmlformats.org/officeDocument/2006/relationships/font" Target="fonts/PlusJakartaSans-bold.fntdata"/><Relationship Id="rId63" Type="http://schemas.openxmlformats.org/officeDocument/2006/relationships/font" Target="fonts/PlusJakartaSans-regular.fntdata"/><Relationship Id="rId22" Type="http://schemas.openxmlformats.org/officeDocument/2006/relationships/slide" Target="slides/slide15.xml"/><Relationship Id="rId66" Type="http://schemas.openxmlformats.org/officeDocument/2006/relationships/font" Target="fonts/PlusJakartaSans-boldItalic.fntdata"/><Relationship Id="rId21" Type="http://schemas.openxmlformats.org/officeDocument/2006/relationships/slide" Target="slides/slide14.xml"/><Relationship Id="rId65" Type="http://schemas.openxmlformats.org/officeDocument/2006/relationships/font" Target="fonts/PlusJakartaSans-italic.fntdata"/><Relationship Id="rId24" Type="http://schemas.openxmlformats.org/officeDocument/2006/relationships/slide" Target="slides/slide17.xml"/><Relationship Id="rId68" Type="http://schemas.openxmlformats.org/officeDocument/2006/relationships/font" Target="fonts/PlusJakartaSansMedium-bold.fntdata"/><Relationship Id="rId23" Type="http://schemas.openxmlformats.org/officeDocument/2006/relationships/slide" Target="slides/slide16.xml"/><Relationship Id="rId67" Type="http://schemas.openxmlformats.org/officeDocument/2006/relationships/font" Target="fonts/PlusJakartaSansMedium-regular.fntdata"/><Relationship Id="rId60" Type="http://schemas.openxmlformats.org/officeDocument/2006/relationships/font" Target="fonts/Inter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PlusJakartaSansMedium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regular.fntdata"/><Relationship Id="rId50" Type="http://schemas.openxmlformats.org/officeDocument/2006/relationships/font" Target="fonts/PlusJakartaSansExtraBold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4.xml"/><Relationship Id="rId55" Type="http://schemas.openxmlformats.org/officeDocument/2006/relationships/font" Target="fonts/LexendDecaMedium-regular.fntdata"/><Relationship Id="rId10" Type="http://schemas.openxmlformats.org/officeDocument/2006/relationships/slide" Target="slides/slide3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6.xml"/><Relationship Id="rId57" Type="http://schemas.openxmlformats.org/officeDocument/2006/relationships/font" Target="fonts/LexendDecaLight-regular.fntdata"/><Relationship Id="rId12" Type="http://schemas.openxmlformats.org/officeDocument/2006/relationships/slide" Target="slides/slide5.xml"/><Relationship Id="rId56" Type="http://schemas.openxmlformats.org/officeDocument/2006/relationships/font" Target="fonts/LexendDecaMedium-bold.fntdata"/><Relationship Id="rId15" Type="http://schemas.openxmlformats.org/officeDocument/2006/relationships/slide" Target="slides/slide8.xml"/><Relationship Id="rId59" Type="http://schemas.openxmlformats.org/officeDocument/2006/relationships/font" Target="fonts/Inter-regular.fntdata"/><Relationship Id="rId14" Type="http://schemas.openxmlformats.org/officeDocument/2006/relationships/slide" Target="slides/slide7.xml"/><Relationship Id="rId58" Type="http://schemas.openxmlformats.org/officeDocument/2006/relationships/font" Target="fonts/LexendDecaLight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2dad925bd_0_699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2b2dad925bd_0_69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221" name="Google Shape;221;g2b2dad925bd_0_69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f429c04a6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f429c04a6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9f429c04a6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4bd7804af_0_3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24bd7804af_0_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g324bd7804af_0_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b2dad925bd_0_761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2b2dad925bd_0_76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g2b2dad925bd_0_76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2dad925bd_0_767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b2dad925bd_0_76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g2b2dad925bd_0_76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2dad925bd_0_779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b2dad925bd_0_77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g2b2dad925bd_0_77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2dad925bd_0_786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2b2dad925bd_0_78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g2b2dad925bd_0_78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2dad925bd_0_792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2b2dad925bd_0_79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g2b2dad925bd_0_79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9f6f541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9f6f54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2dad925bd_0_800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2b2dad925bd_0_80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g2b2dad925bd_0_80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a9964719b_1_0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26a9964719b_1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g26a9964719b_1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2dad925bd_0_819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2b2dad925bd_0_8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g2b2dad925bd_0_8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9f87ee3f8_1_3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d9f87ee3f8_1_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g3d9f87ee3f8_1_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2dad925bd_0_825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2b2dad925bd_0_82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g2b2dad925bd_0_82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b2dad925bd_0_832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b2dad925bd_0_8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g2b2dad925bd_0_8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b2dad925bd_0_838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2b2dad925bd_0_83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g2b2dad925bd_0_83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f6393128f_0_14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9f6393128f_0_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g39f6393128f_0_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b2dad925bd_0_845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2b2dad925bd_0_84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g2b2dad925bd_0_84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b2f5676c81_0_64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2b2f5676c81_0_6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g2b2f5676c81_0_6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b2dad925bd_0_851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2b2dad925bd_0_85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g2b2dad925bd_0_85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9f6f541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9f6f541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9f6f5414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9f6f541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b2dad925bd_0_951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2b2dad925bd_0_95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is right. </a:t>
            </a:r>
            <a:b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>
                <a:solidFill>
                  <a:schemeClr val="dk1"/>
                </a:solidFill>
              </a:rPr>
              <a:t>Clear and RESTful: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/api/products/search</a:t>
            </a:r>
            <a:r>
              <a:rPr lang="en">
                <a:solidFill>
                  <a:schemeClr val="dk1"/>
                </a:solidFill>
              </a:rPr>
              <a:t> clearly indicates you’re searching products.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</a:t>
            </a:r>
            <a:r>
              <a:rPr b="1" lang="en">
                <a:solidFill>
                  <a:schemeClr val="dk1"/>
                </a:solidFill>
              </a:rPr>
              <a:t>lexible design:</a:t>
            </a:r>
            <a:r>
              <a:rPr lang="en">
                <a:solidFill>
                  <a:schemeClr val="dk1"/>
                </a:solidFill>
              </a:rPr>
              <a:t> Supports additional filters (like brand, rating, etc.) in the future.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Standard naming convention: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min_price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max_price</a:t>
            </a:r>
            <a:r>
              <a:rPr lang="en">
                <a:solidFill>
                  <a:schemeClr val="dk1"/>
                </a:solidFill>
              </a:rPr>
              <a:t> are self-explanatory and common in APIs.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Generic but specific enough:</a:t>
            </a:r>
            <a:r>
              <a:rPr lang="en">
                <a:solidFill>
                  <a:schemeClr val="dk1"/>
                </a:solidFill>
              </a:rPr>
              <a:t> Category and price filters are clearly separated.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g2b2dad925bd_0_95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24bd7804af_0_175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24bd7804af_0_17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g324bd7804af_0_17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b2dad925bd_0_957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2b2dad925bd_0_95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g2b2dad925bd_0_95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b2dad925bd_0_963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2b2dad925bd_0_9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g2b2dad925bd_0_9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b2dad925bd_0_981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2b2dad925bd_0_98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g2b2dad925bd_0_98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2776c3f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2776c3f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b2dad925bd_0_1132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b2dad925bd_0_11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g2b2dad925bd_0_11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b2dad925bd_0_1398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2b2dad925bd_0_139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g2b2dad925bd_0_139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b2dad925bd_0_1406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2b2dad925bd_0_14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2" name="Google Shape;492;g2b2dad925bd_0_14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b2dad925bd_0_1428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2b2dad925bd_0_142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0" name="Google Shape;500;g2b2dad925bd_0_142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9032599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9032599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9032599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9032599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9032599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9032599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90325998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c90325998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9032599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9032599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9032599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c9032599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9f99b2bfc_1_0:notes"/>
          <p:cNvSpPr/>
          <p:nvPr>
            <p:ph idx="2" type="sldImg"/>
          </p:nvPr>
        </p:nvSpPr>
        <p:spPr>
          <a:xfrm>
            <a:off x="9144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d9f99b2bfc_1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542" name="Google Shape;542;g3d9f99b2bfc_1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6274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4003125"/>
            <a:ext cx="4521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Giga"/>
              <a:buNone/>
              <a:defRPr>
                <a:solidFill>
                  <a:schemeClr val="lt1"/>
                </a:solidFill>
                <a:latin typeface="Lexend Giga"/>
                <a:ea typeface="Lexend Giga"/>
                <a:cs typeface="Lexend Giga"/>
                <a:sym typeface="Lexend Gi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90100" y="2754550"/>
            <a:ext cx="2387425" cy="20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>
            <p:ph idx="2" type="subTitle"/>
          </p:nvPr>
        </p:nvSpPr>
        <p:spPr>
          <a:xfrm>
            <a:off x="311700" y="2836050"/>
            <a:ext cx="54213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750" y="1630025"/>
            <a:ext cx="2922249" cy="3271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0000" y="364173"/>
            <a:ext cx="718750" cy="1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511600"/>
            <a:ext cx="3853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20"/>
          <p:cNvSpPr/>
          <p:nvPr>
            <p:ph idx="2" type="pic"/>
          </p:nvPr>
        </p:nvSpPr>
        <p:spPr>
          <a:xfrm>
            <a:off x="4865450" y="1511450"/>
            <a:ext cx="3691500" cy="317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- Slide">
  <p:cSld name="CAPTION_ONLY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254900" y="1524000"/>
            <a:ext cx="5998800" cy="11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Font typeface="Lexend Deca Medium"/>
              <a:buNone/>
              <a:defRPr sz="2800">
                <a:solidFill>
                  <a:srgbClr val="16274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2"/>
          <p:cNvSpPr txBox="1"/>
          <p:nvPr>
            <p:ph idx="2" type="subTitle"/>
          </p:nvPr>
        </p:nvSpPr>
        <p:spPr>
          <a:xfrm>
            <a:off x="254900" y="2492950"/>
            <a:ext cx="73302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C4471"/>
              </a:buClr>
              <a:buSzPts val="1800"/>
              <a:buFont typeface="Lexend Deca Medium"/>
              <a:buNone/>
              <a:defRPr>
                <a:solidFill>
                  <a:srgbClr val="2C447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96" name="Google Shape;9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32149" y="3410575"/>
            <a:ext cx="1756390" cy="15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925" y="1998700"/>
            <a:ext cx="3783824" cy="32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3 column">
  <p:cSld name="CUSTOM_3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type="title"/>
          </p:nvPr>
        </p:nvSpPr>
        <p:spPr>
          <a:xfrm>
            <a:off x="279100" y="316925"/>
            <a:ext cx="76629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108" name="Google Shape;10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279100" y="895750"/>
            <a:ext cx="2730300" cy="3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2" type="body"/>
          </p:nvPr>
        </p:nvSpPr>
        <p:spPr>
          <a:xfrm>
            <a:off x="3190460" y="895750"/>
            <a:ext cx="2730300" cy="3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3" type="body"/>
          </p:nvPr>
        </p:nvSpPr>
        <p:spPr>
          <a:xfrm>
            <a:off x="6101829" y="895750"/>
            <a:ext cx="2730300" cy="3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image">
  <p:cSld name="CUSTOM_3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type="title"/>
          </p:nvPr>
        </p:nvSpPr>
        <p:spPr>
          <a:xfrm>
            <a:off x="279100" y="316925"/>
            <a:ext cx="76629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114" name="Google Shape;11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3190463" y="2901825"/>
            <a:ext cx="27303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2" type="body"/>
          </p:nvPr>
        </p:nvSpPr>
        <p:spPr>
          <a:xfrm>
            <a:off x="6101851" y="2901825"/>
            <a:ext cx="27303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5"/>
          <p:cNvSpPr/>
          <p:nvPr>
            <p:ph idx="3" type="pic"/>
          </p:nvPr>
        </p:nvSpPr>
        <p:spPr>
          <a:xfrm>
            <a:off x="279100" y="948175"/>
            <a:ext cx="2730300" cy="181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5"/>
          <p:cNvSpPr/>
          <p:nvPr>
            <p:ph idx="4" type="pic"/>
          </p:nvPr>
        </p:nvSpPr>
        <p:spPr>
          <a:xfrm>
            <a:off x="3190450" y="948175"/>
            <a:ext cx="2730300" cy="181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5"/>
          <p:cNvSpPr/>
          <p:nvPr>
            <p:ph idx="5" type="pic"/>
          </p:nvPr>
        </p:nvSpPr>
        <p:spPr>
          <a:xfrm>
            <a:off x="6101800" y="948175"/>
            <a:ext cx="2730300" cy="181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5"/>
          <p:cNvSpPr txBox="1"/>
          <p:nvPr>
            <p:ph idx="6" type="body"/>
          </p:nvPr>
        </p:nvSpPr>
        <p:spPr>
          <a:xfrm>
            <a:off x="279100" y="2901825"/>
            <a:ext cx="2730300" cy="1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 2">
  <p:cSld name="CUSTOM_3_2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279100" y="316925"/>
            <a:ext cx="76629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" name="Google Shape;12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6316825" y="895750"/>
            <a:ext cx="2454000" cy="3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6"/>
          <p:cNvSpPr/>
          <p:nvPr>
            <p:ph idx="2" type="pic"/>
          </p:nvPr>
        </p:nvSpPr>
        <p:spPr>
          <a:xfrm>
            <a:off x="279100" y="895725"/>
            <a:ext cx="5664600" cy="352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ith text">
  <p:cSld name="CUSTOM_3_2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279100" y="316925"/>
            <a:ext cx="76629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128" name="Google Shape;12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279100" y="895750"/>
            <a:ext cx="8491800" cy="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27"/>
          <p:cNvSpPr/>
          <p:nvPr>
            <p:ph idx="2" type="pic"/>
          </p:nvPr>
        </p:nvSpPr>
        <p:spPr>
          <a:xfrm>
            <a:off x="279100" y="1836700"/>
            <a:ext cx="8586000" cy="258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 with text">
  <p:cSld name="CUSTOM_3_2_1_2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279100" y="316925"/>
            <a:ext cx="76629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133" name="Google Shape;133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279100" y="895750"/>
            <a:ext cx="41385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35" name="Google Shape;135;p28"/>
          <p:cNvSpPr/>
          <p:nvPr>
            <p:ph idx="2" type="pic"/>
          </p:nvPr>
        </p:nvSpPr>
        <p:spPr>
          <a:xfrm>
            <a:off x="279100" y="1793213"/>
            <a:ext cx="4138500" cy="26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8"/>
          <p:cNvSpPr txBox="1"/>
          <p:nvPr>
            <p:ph idx="3" type="body"/>
          </p:nvPr>
        </p:nvSpPr>
        <p:spPr>
          <a:xfrm>
            <a:off x="4693800" y="895750"/>
            <a:ext cx="41385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●"/>
              <a:defRPr>
                <a:solidFill>
                  <a:srgbClr val="16274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○"/>
              <a:defRPr>
                <a:solidFill>
                  <a:srgbClr val="16274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1800"/>
              <a:buChar char="■"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37" name="Google Shape;137;p28"/>
          <p:cNvSpPr/>
          <p:nvPr>
            <p:ph idx="4" type="pic"/>
          </p:nvPr>
        </p:nvSpPr>
        <p:spPr>
          <a:xfrm>
            <a:off x="4693800" y="1793267"/>
            <a:ext cx="4138500" cy="262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41" name="Google Shape;141;p29"/>
          <p:cNvSpPr/>
          <p:nvPr>
            <p:ph idx="2" type="pic"/>
          </p:nvPr>
        </p:nvSpPr>
        <p:spPr>
          <a:xfrm>
            <a:off x="311702" y="1208700"/>
            <a:ext cx="4008900" cy="272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9"/>
          <p:cNvSpPr/>
          <p:nvPr>
            <p:ph idx="3" type="pic"/>
          </p:nvPr>
        </p:nvSpPr>
        <p:spPr>
          <a:xfrm>
            <a:off x="4524952" y="1208700"/>
            <a:ext cx="4008900" cy="2726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3" name="Google Shape;14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APTION_ONLY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207375" y="1183225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19733" y="61539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30"/>
          <p:cNvSpPr/>
          <p:nvPr>
            <p:ph idx="3" type="pic"/>
          </p:nvPr>
        </p:nvSpPr>
        <p:spPr>
          <a:xfrm>
            <a:off x="1487150" y="1183225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9" name="Google Shape;149;p30"/>
          <p:cNvSpPr/>
          <p:nvPr>
            <p:ph idx="4" type="pic"/>
          </p:nvPr>
        </p:nvSpPr>
        <p:spPr>
          <a:xfrm>
            <a:off x="2766925" y="1146450"/>
            <a:ext cx="1069800" cy="1069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30"/>
          <p:cNvSpPr/>
          <p:nvPr>
            <p:ph idx="5" type="pic"/>
          </p:nvPr>
        </p:nvSpPr>
        <p:spPr>
          <a:xfrm>
            <a:off x="4027500" y="11368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30"/>
          <p:cNvSpPr/>
          <p:nvPr>
            <p:ph idx="6" type="pic"/>
          </p:nvPr>
        </p:nvSpPr>
        <p:spPr>
          <a:xfrm>
            <a:off x="5307275" y="11368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2" name="Google Shape;152;p30"/>
          <p:cNvSpPr/>
          <p:nvPr>
            <p:ph idx="7" type="pic"/>
          </p:nvPr>
        </p:nvSpPr>
        <p:spPr>
          <a:xfrm>
            <a:off x="6587050" y="11368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3" name="Google Shape;153;p30"/>
          <p:cNvSpPr/>
          <p:nvPr>
            <p:ph idx="8" type="pic"/>
          </p:nvPr>
        </p:nvSpPr>
        <p:spPr>
          <a:xfrm>
            <a:off x="7847625" y="11368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30"/>
          <p:cNvSpPr/>
          <p:nvPr>
            <p:ph idx="9" type="pic"/>
          </p:nvPr>
        </p:nvSpPr>
        <p:spPr>
          <a:xfrm>
            <a:off x="311700" y="27744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5" name="Google Shape;155;p30"/>
          <p:cNvSpPr/>
          <p:nvPr>
            <p:ph idx="13" type="pic"/>
          </p:nvPr>
        </p:nvSpPr>
        <p:spPr>
          <a:xfrm>
            <a:off x="1591475" y="2774450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6" name="Google Shape;156;p30"/>
          <p:cNvSpPr/>
          <p:nvPr>
            <p:ph idx="14" type="pic"/>
          </p:nvPr>
        </p:nvSpPr>
        <p:spPr>
          <a:xfrm>
            <a:off x="2871250" y="2737675"/>
            <a:ext cx="1069800" cy="1069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7" name="Google Shape;157;p30"/>
          <p:cNvSpPr/>
          <p:nvPr>
            <p:ph idx="15" type="pic"/>
          </p:nvPr>
        </p:nvSpPr>
        <p:spPr>
          <a:xfrm>
            <a:off x="4131825" y="2728075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8" name="Google Shape;158;p30"/>
          <p:cNvSpPr/>
          <p:nvPr>
            <p:ph idx="16" type="pic"/>
          </p:nvPr>
        </p:nvSpPr>
        <p:spPr>
          <a:xfrm>
            <a:off x="5411600" y="2728075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9" name="Google Shape;159;p30"/>
          <p:cNvSpPr/>
          <p:nvPr>
            <p:ph idx="17" type="pic"/>
          </p:nvPr>
        </p:nvSpPr>
        <p:spPr>
          <a:xfrm>
            <a:off x="6691375" y="2728075"/>
            <a:ext cx="1089000" cy="108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0" name="Google Shape;160;p30"/>
          <p:cNvSpPr/>
          <p:nvPr>
            <p:ph idx="18" type="pic"/>
          </p:nvPr>
        </p:nvSpPr>
        <p:spPr>
          <a:xfrm>
            <a:off x="7951950" y="2728075"/>
            <a:ext cx="1089000" cy="10890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61" name="Google Shape;16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image and title">
  <p:cSld name="CAPTION_ONLY_1">
    <p:bg>
      <p:bgPr>
        <a:solidFill>
          <a:srgbClr val="16274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1"/>
          <p:cNvSpPr/>
          <p:nvPr>
            <p:ph idx="2" type="pic"/>
          </p:nvPr>
        </p:nvSpPr>
        <p:spPr>
          <a:xfrm>
            <a:off x="2658925" y="1460625"/>
            <a:ext cx="3633300" cy="279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6" name="Google Shape;16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0000" y="364173"/>
            <a:ext cx="718750" cy="1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 section divider">
  <p:cSld name="BLANK_3">
    <p:bg>
      <p:bgPr>
        <a:solidFill>
          <a:srgbClr val="CFF1D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709950"/>
            <a:ext cx="6390000" cy="11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3600"/>
              <a:buNone/>
              <a:defRPr sz="3600"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175" name="Google Shape;17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88326" y="2823150"/>
            <a:ext cx="3091825" cy="2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BLANK_3_1">
    <p:bg>
      <p:bgPr>
        <a:solidFill>
          <a:srgbClr val="F9DE9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5800" y="2599675"/>
            <a:ext cx="2128516" cy="18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709950"/>
            <a:ext cx="6390000" cy="11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3600"/>
              <a:buNone/>
              <a:defRPr sz="3600"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1800" y="2882600"/>
            <a:ext cx="2782527" cy="183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blank">
  <p:cSld name="BLANK">
    <p:bg>
      <p:bgPr>
        <a:solidFill>
          <a:srgbClr val="D2E1F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13400" y="2704400"/>
            <a:ext cx="2435425" cy="209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300" y="2644075"/>
            <a:ext cx="2523351" cy="168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505075"/>
            <a:ext cx="53577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9" name="Google Shape;18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Slide">
  <p:cSld name="BLANK_1">
    <p:bg>
      <p:bgPr>
        <a:solidFill>
          <a:srgbClr val="F1CDCD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193" name="Google Shape;19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51300" y="2651100"/>
            <a:ext cx="2443200" cy="225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750" y="2818925"/>
            <a:ext cx="3135575" cy="209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505075"/>
            <a:ext cx="53577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6" name="Google Shape;19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ll slide">
  <p:cSld name="BLANK_1_1">
    <p:bg>
      <p:bgPr>
        <a:solidFill>
          <a:srgbClr val="D5D7F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pic>
        <p:nvPicPr>
          <p:cNvPr id="200" name="Google Shape;20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13300" y="2535800"/>
            <a:ext cx="2478300" cy="229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900" y="3166900"/>
            <a:ext cx="2478300" cy="165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311700" y="1505075"/>
            <a:ext cx="53577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03" name="Google Shape;2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">
  <p:cSld name="BLANK_1_1_1">
    <p:bg>
      <p:bgPr>
        <a:solidFill>
          <a:srgbClr val="FFF0A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505075"/>
            <a:ext cx="53577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08" name="Google Shape;20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41975" y="2846688"/>
            <a:ext cx="2372201" cy="203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975" y="2853475"/>
            <a:ext cx="3194400" cy="236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y Slide">
  <p:cSld name="BLANK_1_1_1_1">
    <p:bg>
      <p:bgPr>
        <a:solidFill>
          <a:srgbClr val="F2D8E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555600"/>
            <a:ext cx="6390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2742"/>
              </a:buClr>
              <a:buSzPts val="2800"/>
              <a:buNone/>
              <a:defRPr>
                <a:solidFill>
                  <a:srgbClr val="162742"/>
                </a:solidFill>
              </a:defRPr>
            </a:lvl9pPr>
          </a:lstStyle>
          <a:p/>
        </p:txBody>
      </p:sp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311700" y="1505075"/>
            <a:ext cx="53577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5" name="Google Shape;21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51300" y="2651100"/>
            <a:ext cx="2443200" cy="225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200000">
            <a:off x="6474650" y="1928575"/>
            <a:ext cx="2981750" cy="29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224" y="316925"/>
            <a:ext cx="718749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●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○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■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●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○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■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●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○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Char char="■"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hyperlink" Target="https://www.linkedin.com/in/sakshamarora9575/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5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hyperlink" Target="https://graphql.org/learn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hyperlink" Target="https://drive.google.com/file/d/1F3IKpbYee2MClDhZ1-BdUGXnE_9UmgCz/view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hyperlink" Target="https://stripe.com/docs/api" TargetMode="External"/><Relationship Id="rId5" Type="http://schemas.openxmlformats.org/officeDocument/2006/relationships/hyperlink" Target="https://developers.notion.com/" TargetMode="External"/><Relationship Id="rId6" Type="http://schemas.openxmlformats.org/officeDocument/2006/relationships/hyperlink" Target="https://sendgrid.com/solutions/email-api/" TargetMode="External"/><Relationship Id="rId7" Type="http://schemas.openxmlformats.org/officeDocument/2006/relationships/hyperlink" Target="https://docs.github.com/en/res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46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Relationship Id="rId4" Type="http://schemas.openxmlformats.org/officeDocument/2006/relationships/image" Target="../media/image47.png"/><Relationship Id="rId5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4.png"/><Relationship Id="rId4" Type="http://schemas.openxmlformats.org/officeDocument/2006/relationships/hyperlink" Target="https://www.linkedin.com/in/sakshamarora957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/>
          <p:nvPr/>
        </p:nvSpPr>
        <p:spPr>
          <a:xfrm>
            <a:off x="1943700" y="1905027"/>
            <a:ext cx="52620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API, JSON, Web-hooks</a:t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and SDK </a:t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Saksham Arora</a:t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7815125" y="4544250"/>
            <a:ext cx="1144200" cy="46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0"/>
          <p:cNvSpPr txBox="1"/>
          <p:nvPr/>
        </p:nvSpPr>
        <p:spPr>
          <a:xfrm>
            <a:off x="7716125" y="4575750"/>
            <a:ext cx="13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GenAI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/>
          <p:nvPr/>
        </p:nvSpPr>
        <p:spPr>
          <a:xfrm>
            <a:off x="0" y="4885856"/>
            <a:ext cx="9144000" cy="190800"/>
          </a:xfrm>
          <a:prstGeom prst="rect">
            <a:avLst/>
          </a:prstGeom>
          <a:solidFill>
            <a:srgbClr val="213B3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3B31"/>
              </a:solidFill>
            </a:endParaRPr>
          </a:p>
        </p:txBody>
      </p:sp>
      <p:sp>
        <p:nvSpPr>
          <p:cNvPr id="232" name="Google Shape;232;p41"/>
          <p:cNvSpPr txBox="1"/>
          <p:nvPr/>
        </p:nvSpPr>
        <p:spPr>
          <a:xfrm>
            <a:off x="2242648" y="2933114"/>
            <a:ext cx="4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5AF9F"/>
                </a:solidFill>
                <a:latin typeface="Lexend Deca"/>
                <a:ea typeface="Lexend Deca"/>
                <a:cs typeface="Lexend Deca"/>
                <a:sym typeface="Lexend Deca"/>
              </a:rPr>
              <a:t>Saksham Arora</a:t>
            </a:r>
            <a:endParaRPr b="1" sz="1700">
              <a:solidFill>
                <a:srgbClr val="85AF9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33" name="Google Shape;233;p41"/>
          <p:cNvSpPr txBox="1"/>
          <p:nvPr/>
        </p:nvSpPr>
        <p:spPr>
          <a:xfrm>
            <a:off x="1761202" y="3522139"/>
            <a:ext cx="6343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                   </a:t>
            </a:r>
            <a:r>
              <a:rPr lang="en" sz="1400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Software Engineer 2 @ Intuit </a:t>
            </a:r>
            <a:endParaRPr>
              <a:solidFill>
                <a:srgbClr val="213B3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3B3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 		</a:t>
            </a:r>
            <a:r>
              <a:rPr lang="en" sz="1400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Ex - Software Engineer @ Microsoft</a:t>
            </a:r>
            <a:endParaRPr>
              <a:solidFill>
                <a:srgbClr val="213B3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                             </a:t>
            </a:r>
            <a:endParaRPr sz="1400">
              <a:solidFill>
                <a:srgbClr val="213B3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pic>
        <p:nvPicPr>
          <p:cNvPr id="234" name="Google Shape;234;p41"/>
          <p:cNvPicPr preferRelativeResize="0"/>
          <p:nvPr/>
        </p:nvPicPr>
        <p:blipFill rotWithShape="1">
          <a:blip r:embed="rId3">
            <a:alphaModFix/>
          </a:blip>
          <a:srcRect b="0" l="8740" r="70237" t="6165"/>
          <a:stretch/>
        </p:blipFill>
        <p:spPr>
          <a:xfrm>
            <a:off x="5906725" y="3890309"/>
            <a:ext cx="469331" cy="52696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 txBox="1"/>
          <p:nvPr/>
        </p:nvSpPr>
        <p:spPr>
          <a:xfrm>
            <a:off x="3242188" y="3256013"/>
            <a:ext cx="240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Saksham Arora - Intuit | LinkedIn</a:t>
            </a:r>
            <a:r>
              <a:rPr lang="en" sz="1100"/>
              <a:t> </a:t>
            </a:r>
            <a:endParaRPr sz="1100"/>
          </a:p>
        </p:txBody>
      </p:sp>
      <p:pic>
        <p:nvPicPr>
          <p:cNvPr id="236" name="Google Shape;236;p41" title="intuitImage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813" y="3563822"/>
            <a:ext cx="342750" cy="34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 txBox="1"/>
          <p:nvPr/>
        </p:nvSpPr>
        <p:spPr>
          <a:xfrm>
            <a:off x="1898500" y="4303775"/>
            <a:ext cx="50916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2 Times Intern at Microsoft + 1 intern at Amazon</a:t>
            </a:r>
            <a:endParaRPr>
              <a:solidFill>
                <a:srgbClr val="213B3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  <a:p>
            <a:pPr indent="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13B31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Founding Engineer at Crio.do</a:t>
            </a:r>
            <a:endParaRPr sz="18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38" name="Google Shape;238;p41" title="IMG_4362.jpg"/>
          <p:cNvPicPr preferRelativeResize="0"/>
          <p:nvPr/>
        </p:nvPicPr>
        <p:blipFill rotWithShape="1">
          <a:blip r:embed="rId6">
            <a:alphaModFix/>
          </a:blip>
          <a:srcRect b="12332" l="0" r="0" t="454"/>
          <a:stretch/>
        </p:blipFill>
        <p:spPr>
          <a:xfrm>
            <a:off x="3144825" y="592600"/>
            <a:ext cx="2446800" cy="2274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Why do we need APIs?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00" y="1641375"/>
            <a:ext cx="3187499" cy="316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999" y="1456475"/>
            <a:ext cx="2857785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3974" y="3564875"/>
            <a:ext cx="1279825" cy="127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42"/>
          <p:cNvCxnSpPr>
            <a:stCxn id="247" idx="2"/>
          </p:cNvCxnSpPr>
          <p:nvPr/>
        </p:nvCxnSpPr>
        <p:spPr>
          <a:xfrm>
            <a:off x="6703892" y="2885375"/>
            <a:ext cx="18300" cy="67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50" name="Google Shape;250;p42"/>
          <p:cNvSpPr txBox="1"/>
          <p:nvPr/>
        </p:nvSpPr>
        <p:spPr>
          <a:xfrm>
            <a:off x="512250" y="982700"/>
            <a:ext cx="4714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Communication between systems</a:t>
            </a:r>
            <a:endParaRPr b="1" sz="1800">
              <a:solidFill>
                <a:schemeClr val="dk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/>
          <p:nvPr/>
        </p:nvSpPr>
        <p:spPr>
          <a:xfrm>
            <a:off x="413250" y="476250"/>
            <a:ext cx="83175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How does Amazon interact with a payments gateway for collecting payments 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257" name="Google Shape;257;p43"/>
          <p:cNvPicPr preferRelativeResize="0"/>
          <p:nvPr/>
        </p:nvPicPr>
        <p:blipFill rotWithShape="1">
          <a:blip r:embed="rId4">
            <a:alphaModFix/>
          </a:blip>
          <a:srcRect b="18714" l="3594" r="2799" t="18171"/>
          <a:stretch/>
        </p:blipFill>
        <p:spPr>
          <a:xfrm>
            <a:off x="978725" y="1697150"/>
            <a:ext cx="6285974" cy="23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3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1200" y="1642975"/>
            <a:ext cx="1502324" cy="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5225" y="2969125"/>
            <a:ext cx="1684425" cy="1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Did you just notice?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67" name="Google Shape;267;p44"/>
          <p:cNvSpPr txBox="1"/>
          <p:nvPr>
            <p:ph idx="4294967295" type="body"/>
          </p:nvPr>
        </p:nvSpPr>
        <p:spPr>
          <a:xfrm>
            <a:off x="471500" y="1150300"/>
            <a:ext cx="69210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Can you see that how beautifully these two systems are talking with one another?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But the question is how are they talking to one another? They are talking to one another through a piece of code. </a:t>
            </a:r>
            <a:endParaRPr b="1"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44"/>
          <p:cNvSpPr txBox="1"/>
          <p:nvPr/>
        </p:nvSpPr>
        <p:spPr>
          <a:xfrm>
            <a:off x="585300" y="2749825"/>
            <a:ext cx="6555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This piece of code through which two systems (applications) talk to one another is called as API. Exciting, isn't it? </a:t>
            </a:r>
            <a:endParaRPr b="1"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is APIs?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76" name="Google Shape;276;p45"/>
          <p:cNvSpPr txBox="1"/>
          <p:nvPr>
            <p:ph idx="4294967295" type="body"/>
          </p:nvPr>
        </p:nvSpPr>
        <p:spPr>
          <a:xfrm>
            <a:off x="471500" y="1150300"/>
            <a:ext cx="6744000" cy="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Officially! API stands for Application Programming Interface. (Reading the definition of API on Wikipedia can give a nightmare.)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ssets/api.png" id="277" name="Google Shape;277;p45" title="assets/api.png"/>
          <p:cNvPicPr preferRelativeResize="0"/>
          <p:nvPr/>
        </p:nvPicPr>
        <p:blipFill rotWithShape="1">
          <a:blip r:embed="rId4">
            <a:alphaModFix/>
          </a:blip>
          <a:srcRect b="17590" l="-10810" r="10810" t="-17590"/>
          <a:stretch/>
        </p:blipFill>
        <p:spPr>
          <a:xfrm>
            <a:off x="-291550" y="3171550"/>
            <a:ext cx="7098804" cy="1454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5"/>
          <p:cNvSpPr txBox="1"/>
          <p:nvPr/>
        </p:nvSpPr>
        <p:spPr>
          <a:xfrm>
            <a:off x="471500" y="2462800"/>
            <a:ext cx="68835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APIs are a piece of code through which two systems (applications) talk to one another.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45"/>
          <p:cNvSpPr txBox="1"/>
          <p:nvPr/>
        </p:nvSpPr>
        <p:spPr>
          <a:xfrm>
            <a:off x="471500" y="1888550"/>
            <a:ext cx="709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But, we have learnt a very simple definition (in the Amazon - Razorpay) example.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45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Dominos analogy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00" y="1422837"/>
            <a:ext cx="7665002" cy="2297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6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Request + response cycle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95" name="Google Shape;295;p47"/>
          <p:cNvSpPr txBox="1"/>
          <p:nvPr>
            <p:ph idx="4294967295" type="body"/>
          </p:nvPr>
        </p:nvSpPr>
        <p:spPr>
          <a:xfrm>
            <a:off x="471500" y="1150300"/>
            <a:ext cx="6931500" cy="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The piece of data that you send to the server is called as Request.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Here by you, I mean, your web browser. Btw! You in technical terms is called as client.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75" y="2326750"/>
            <a:ext cx="6564050" cy="229436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7"/>
          <p:cNvSpPr txBox="1"/>
          <p:nvPr/>
        </p:nvSpPr>
        <p:spPr>
          <a:xfrm>
            <a:off x="875376" y="2444788"/>
            <a:ext cx="2153400" cy="23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7"/>
          <p:cNvSpPr txBox="1"/>
          <p:nvPr/>
        </p:nvSpPr>
        <p:spPr>
          <a:xfrm>
            <a:off x="471500" y="1899400"/>
            <a:ext cx="668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The piece of data that you get back from the server is called as Response.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47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8" title="Screenshot 2026-03-21 at 02.13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1788"/>
            <a:ext cx="8839200" cy="18599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8"/>
          <p:cNvSpPr txBox="1"/>
          <p:nvPr/>
        </p:nvSpPr>
        <p:spPr>
          <a:xfrm>
            <a:off x="294100" y="274050"/>
            <a:ext cx="86292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APIs are not just between client and server.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THEY HELP to </a:t>
            </a:r>
            <a:r>
              <a:rPr lang="en" sz="1800">
                <a:solidFill>
                  <a:schemeClr val="dk2"/>
                </a:solidFill>
              </a:rPr>
              <a:t>communicate</a:t>
            </a:r>
            <a:r>
              <a:rPr lang="en" sz="1800">
                <a:solidFill>
                  <a:schemeClr val="dk2"/>
                </a:solidFill>
              </a:rPr>
              <a:t> between two software components.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/>
          <p:nvPr/>
        </p:nvSpPr>
        <p:spPr>
          <a:xfrm>
            <a:off x="337800" y="222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Types of Request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2" name="Google Shape;312;p49"/>
          <p:cNvSpPr txBox="1"/>
          <p:nvPr>
            <p:ph idx="4294967295" type="body"/>
          </p:nvPr>
        </p:nvSpPr>
        <p:spPr>
          <a:xfrm>
            <a:off x="337800" y="736450"/>
            <a:ext cx="8385000" cy="24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The four common types of request are ➖ GET, PUT, POST, DELETE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GET - You make a GET request to get some piece of data from the server. (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RETRIEVE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DATA)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POST - You make a POST request to add a new piece of data to the server. (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DATA)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PUT - You make a PUT request to edit the existing piece of data on the server (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UPDATE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DATA)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DELETE - You make a delete request to delete a piece of data on the server (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REMOVE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DATA)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3" name="Google Shape;313;p49"/>
          <p:cNvPicPr preferRelativeResize="0"/>
          <p:nvPr/>
        </p:nvPicPr>
        <p:blipFill rotWithShape="1">
          <a:blip r:embed="rId4">
            <a:alphaModFix/>
          </a:blip>
          <a:srcRect b="11100" l="10935" r="6788" t="14500"/>
          <a:stretch/>
        </p:blipFill>
        <p:spPr>
          <a:xfrm>
            <a:off x="2030650" y="2779200"/>
            <a:ext cx="5154700" cy="17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language does client and server communicate?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321" name="Google Shape;32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8375" y="1517825"/>
            <a:ext cx="3669600" cy="2754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0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00" y="1906800"/>
            <a:ext cx="2830400" cy="15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is JSON?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30" name="Google Shape;330;p51"/>
          <p:cNvSpPr txBox="1"/>
          <p:nvPr>
            <p:ph idx="4294967295" type="body"/>
          </p:nvPr>
        </p:nvSpPr>
        <p:spPr>
          <a:xfrm>
            <a:off x="471500" y="1150300"/>
            <a:ext cx="4873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You might be wondering, from where did JSON come here? We were studying API. Right?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51"/>
          <p:cNvSpPr txBox="1"/>
          <p:nvPr/>
        </p:nvSpPr>
        <p:spPr>
          <a:xfrm>
            <a:off x="471500" y="1991713"/>
            <a:ext cx="4663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Wait! Let me explain. As I have said earlier, you make a request to the 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server to get a piece of data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. Right?</a:t>
            </a:r>
            <a:endParaRPr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51"/>
          <p:cNvSpPr txBox="1"/>
          <p:nvPr/>
        </p:nvSpPr>
        <p:spPr>
          <a:xfrm>
            <a:off x="471500" y="2871275"/>
            <a:ext cx="43104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Remember, the data always comes in a specific format. Think of a spreadsheet file. It always comes in .csv or .xls format. Similarly, API responses can come in various formats like XML, JSON etc. </a:t>
            </a:r>
            <a:endParaRPr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3" name="Google Shape;33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275" y="1150300"/>
            <a:ext cx="3197037" cy="3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1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Skyscanner &amp; OTA-flight operator 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41" name="Google Shape;341;p52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675" y="1213425"/>
            <a:ext cx="2280375" cy="17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4425" y="1099525"/>
            <a:ext cx="3466176" cy="19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6988" y="3092550"/>
            <a:ext cx="2704148" cy="191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7450" y="3092550"/>
            <a:ext cx="1927109" cy="191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26125" y="3513100"/>
            <a:ext cx="2147801" cy="10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3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is JSON?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53" name="Google Shape;353;p53"/>
          <p:cNvSpPr txBox="1"/>
          <p:nvPr>
            <p:ph idx="4294967295" type="body"/>
          </p:nvPr>
        </p:nvSpPr>
        <p:spPr>
          <a:xfrm>
            <a:off x="471500" y="1150300"/>
            <a:ext cx="32613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Normally, we get the data in JSON format these days.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25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Suppose, you have requested to get data of MS Dhoni (name, age, and city) from the Cricbuzz server. The server will give you the data in a specific format as given below. This data format is called as JSON.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53"/>
          <p:cNvSpPr txBox="1"/>
          <p:nvPr/>
        </p:nvSpPr>
        <p:spPr>
          <a:xfrm>
            <a:off x="6642800" y="1150300"/>
            <a:ext cx="242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04800" marR="30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3F3F3"/>
              </a:highlight>
            </a:endParaRPr>
          </a:p>
        </p:txBody>
      </p:sp>
      <p:pic>
        <p:nvPicPr>
          <p:cNvPr id="355" name="Google Shape;35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4150" y="677413"/>
            <a:ext cx="4828099" cy="378867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3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is </a:t>
            </a: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JSON?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63" name="Google Shape;363;p54"/>
          <p:cNvSpPr txBox="1"/>
          <p:nvPr>
            <p:ph idx="4294967295" type="body"/>
          </p:nvPr>
        </p:nvSpPr>
        <p:spPr>
          <a:xfrm>
            <a:off x="358850" y="1147525"/>
            <a:ext cx="46197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JSON stands for JavaScript Object Notation.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JSON (JavaScript Object Notation) is a lightweight data-interchange format.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easy for humans to read and write.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also easy for machines to parse.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a collection of key/value pairs.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4" name="Google Shape;36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850" y="1147524"/>
            <a:ext cx="3536700" cy="26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4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JSON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72" name="Google Shape;372;p55"/>
          <p:cNvSpPr txBox="1"/>
          <p:nvPr>
            <p:ph idx="4294967295" type="body"/>
          </p:nvPr>
        </p:nvSpPr>
        <p:spPr>
          <a:xfrm>
            <a:off x="471500" y="1150300"/>
            <a:ext cx="44814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JSON describes the data in key-value pairs. For e.g. - name is key &amp; "MS Dhoni" is value.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Keys &amp; values are separated by a colon ( : 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value is a string, it is mentioned in double-quotes.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JSON value can be an object, array, number, string, true, false, or null, and JSON structure can be nested up to any level.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3" name="Google Shape;37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6050" y="1150300"/>
            <a:ext cx="3624301" cy="23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5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API vs JSON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81" name="Google Shape;381;p56"/>
          <p:cNvSpPr txBox="1"/>
          <p:nvPr>
            <p:ph idx="4294967295" type="body"/>
          </p:nvPr>
        </p:nvSpPr>
        <p:spPr>
          <a:xfrm>
            <a:off x="471500" y="1150300"/>
            <a:ext cx="83862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Feature							API							JSON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it is 					A communication interface				     A data format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Purpose					Defines how systems talk			    Defines how data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looks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8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						GET /users			 	{ "name": "Saksham", "age": 26}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56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How can APIs be designed?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89" name="Google Shape;389;p57"/>
          <p:cNvSpPr txBox="1"/>
          <p:nvPr>
            <p:ph idx="4294967295" type="body"/>
          </p:nvPr>
        </p:nvSpPr>
        <p:spPr>
          <a:xfrm>
            <a:off x="405250" y="1172400"/>
            <a:ext cx="7519500" cy="28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62500"/>
              </a:lnSpc>
              <a:spcBef>
                <a:spcPts val="120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There are different architecture pattern (set of rules) followed while 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designing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an API.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Top 3 API 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architecture patterns are -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○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REST → 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90%</a:t>
            </a:r>
            <a:endParaRPr b="1"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○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GraphQL (</a:t>
            </a:r>
            <a:r>
              <a:rPr lang="en" sz="13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https://graphql.org/learn/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) → 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9%</a:t>
            </a: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○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RPC → </a:t>
            </a:r>
            <a:r>
              <a:rPr b="1"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1%</a:t>
            </a:r>
            <a:endParaRPr b="1"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7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REST APIs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97" name="Google Shape;397;p58"/>
          <p:cNvSpPr txBox="1"/>
          <p:nvPr>
            <p:ph idx="4294967295" type="body"/>
          </p:nvPr>
        </p:nvSpPr>
        <p:spPr>
          <a:xfrm>
            <a:off x="405250" y="1172400"/>
            <a:ext cx="4520100" cy="14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62500"/>
              </a:lnSpc>
              <a:spcBef>
                <a:spcPts val="120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REST is a </a:t>
            </a:r>
            <a:r>
              <a:rPr b="1" lang="en" sz="13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set of rules</a:t>
            </a:r>
            <a:r>
              <a:rPr lang="en" sz="13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that developers follow when they create their API.</a:t>
            </a:r>
            <a:endParaRPr sz="13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When an API follows the rule of Representational State Transfer; they are called REST API.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" name="Google Shape;398;p58"/>
          <p:cNvPicPr preferRelativeResize="0"/>
          <p:nvPr/>
        </p:nvPicPr>
        <p:blipFill rotWithShape="1">
          <a:blip r:embed="rId4">
            <a:alphaModFix/>
          </a:blip>
          <a:srcRect b="10378" l="0" r="0" t="0"/>
          <a:stretch/>
        </p:blipFill>
        <p:spPr>
          <a:xfrm>
            <a:off x="4720725" y="1041200"/>
            <a:ext cx="4286201" cy="269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8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9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Key attributes of Rest API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06" name="Google Shape;406;p59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9"/>
          <p:cNvSpPr txBox="1"/>
          <p:nvPr/>
        </p:nvSpPr>
        <p:spPr>
          <a:xfrm>
            <a:off x="471500" y="1451775"/>
            <a:ext cx="7849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client (e.g., a web browser or mobile app) and the server (e.g., backend system) are independent of each other.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server provides resources, and the client consumes them.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A weather app (client) fetches data from a weather API (server).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8" name="Google Shape;40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1125" y="2920600"/>
            <a:ext cx="4969948" cy="202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9"/>
          <p:cNvSpPr txBox="1"/>
          <p:nvPr/>
        </p:nvSpPr>
        <p:spPr>
          <a:xfrm>
            <a:off x="471500" y="10210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Client-Server Architecture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59"/>
          <p:cNvSpPr/>
          <p:nvPr/>
        </p:nvSpPr>
        <p:spPr>
          <a:xfrm>
            <a:off x="3898950" y="42634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60" title="Screenshot 2026-03-21 at 02.30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02" y="921450"/>
            <a:ext cx="6390774" cy="400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0"/>
          <p:cNvSpPr txBox="1"/>
          <p:nvPr/>
        </p:nvSpPr>
        <p:spPr>
          <a:xfrm>
            <a:off x="340900" y="187150"/>
            <a:ext cx="71253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</a:rPr>
              <a:t>INPUT IN REQUEST in REST API </a:t>
            </a:r>
            <a:endParaRPr b="1" sz="3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61" title="Screenshot 2026-03-21 at 02.31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975" y="640350"/>
            <a:ext cx="7046499" cy="36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2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Quiz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28" name="Google Shape;428;p62"/>
          <p:cNvSpPr txBox="1"/>
          <p:nvPr>
            <p:ph idx="4294967295" type="body"/>
          </p:nvPr>
        </p:nvSpPr>
        <p:spPr>
          <a:xfrm>
            <a:off x="471500" y="1050900"/>
            <a:ext cx="8305800" cy="3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are designing an API for the 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 search feature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Which API endpoint and query parameter combination would be most suitable for retrieving a list of mobile phones priced between $200 and $500?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Options: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lphaUcParenR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Endpoint: /api/products/search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 Parameters: category=mobiles&amp;min_price=200&amp;max_price=500</a:t>
            </a:r>
            <a:b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lphaUcParenR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Endpoint: /api/mobiles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 Parameters: price_from=200&amp;price_to=500</a:t>
            </a:r>
            <a:b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lphaUcParenR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Endpoint: /api/products/filter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 Parameters: category=mobiles&amp;priceRange=200-500</a:t>
            </a:r>
            <a:b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lphaUcParenR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Endpoint: /api/search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 Parameters: type=mobile&amp;price=200-500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62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"/>
          <p:cNvSpPr/>
          <p:nvPr/>
        </p:nvSpPr>
        <p:spPr>
          <a:xfrm>
            <a:off x="197450" y="162075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Key attributes of Rest API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36" name="Google Shape;436;p63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3"/>
          <p:cNvSpPr txBox="1"/>
          <p:nvPr/>
        </p:nvSpPr>
        <p:spPr>
          <a:xfrm>
            <a:off x="164025" y="6762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 status code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63"/>
          <p:cNvSpPr txBox="1"/>
          <p:nvPr/>
        </p:nvSpPr>
        <p:spPr>
          <a:xfrm>
            <a:off x="197450" y="1058800"/>
            <a:ext cx="7313100" cy="27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REST APIs use standard HTTP status codes to indicate the outcome of a request: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 OK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The request was successful.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201 Created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A new resource was successfully created.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404 Not Found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The requested resource does not exist.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500 Internal Server Error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Something went wrong on the server.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4xx : CLIENT ERROR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5xx: SERVER ERROR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9" name="Google Shape;43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0550" y="2546275"/>
            <a:ext cx="3281700" cy="24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How to work with an API?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46" name="Google Shape;446;p64"/>
          <p:cNvSpPr txBox="1"/>
          <p:nvPr>
            <p:ph idx="4294967295" type="body"/>
          </p:nvPr>
        </p:nvSpPr>
        <p:spPr>
          <a:xfrm>
            <a:off x="471500" y="1150300"/>
            <a:ext cx="83058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So far we have learnt what requests and responses are. We also learnt about endpoints, query parameters and body data. 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25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To get started with any API, you need to do the following ➖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240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Read the API documentation carefully.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Find which endpoints which matches your business need.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Check whether there is any authentication/authorisation required to access the API.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Test the API through Postman or by curl request.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Implement via code</a:t>
            </a:r>
            <a:endParaRPr sz="14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64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5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Exploring API documentation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54" name="Google Shape;454;p65"/>
          <p:cNvSpPr txBox="1"/>
          <p:nvPr>
            <p:ph idx="4294967295" type="body"/>
          </p:nvPr>
        </p:nvSpPr>
        <p:spPr>
          <a:xfrm>
            <a:off x="471500" y="1150300"/>
            <a:ext cx="8076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1200"/>
              </a:spcBef>
              <a:spcAft>
                <a:spcPts val="2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Let's say you want to integrate Google signup API on your website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65"/>
          <p:cNvSpPr txBox="1"/>
          <p:nvPr>
            <p:ph idx="4294967295" type="body"/>
          </p:nvPr>
        </p:nvSpPr>
        <p:spPr>
          <a:xfrm>
            <a:off x="555975" y="1588375"/>
            <a:ext cx="8440500" cy="23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would be the first step? The first step would be to read the APIs documentation.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documentation always the starting point when it comes to working with APIs.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Remember! A good API should have detailed documentation explaining how to work with it. 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should describe the basics - what the API does, what type of data you can get from it?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should explain the requirements for using the API. Is it free or paid? Does it require you to register and obtain a key?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should also provide examples of how to make requests and the responses returned.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And most importantly, for actually working with the API, it should provide you with endpoints and parameters.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65"/>
          <p:cNvSpPr txBox="1"/>
          <p:nvPr/>
        </p:nvSpPr>
        <p:spPr>
          <a:xfrm>
            <a:off x="555975" y="4179925"/>
            <a:ext cx="84405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 - API Documentation is also called API contract.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Checkout sample API documentation - </a:t>
            </a:r>
            <a:r>
              <a:rPr lang="en" sz="11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https://drive.google.com/file/d/1F3IKpbYee2MClDhZ1-BdUGXnE_9UmgCz/view?usp=sharing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65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6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Sample API documentation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64" name="Google Shape;464;p66"/>
          <p:cNvSpPr txBox="1"/>
          <p:nvPr>
            <p:ph idx="4294967295" type="body"/>
          </p:nvPr>
        </p:nvSpPr>
        <p:spPr>
          <a:xfrm>
            <a:off x="471500" y="1150300"/>
            <a:ext cx="83058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Here are a few examples of the best API documentation you can read and play around with. 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Stripe - </a:t>
            </a:r>
            <a:r>
              <a:rPr lang="en" sz="1200">
                <a:solidFill>
                  <a:srgbClr val="1000EE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https://stripe.com/docs/api</a:t>
            </a:r>
            <a:endParaRPr sz="1200">
              <a:solidFill>
                <a:srgbClr val="1000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Notion - </a:t>
            </a:r>
            <a:r>
              <a:rPr lang="en" sz="1200">
                <a:solidFill>
                  <a:srgbClr val="1000EE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https://developers.notion.com/</a:t>
            </a:r>
            <a:endParaRPr sz="1200">
              <a:solidFill>
                <a:srgbClr val="1000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SendGrid - </a:t>
            </a:r>
            <a:r>
              <a:rPr lang="en" sz="1200">
                <a:solidFill>
                  <a:srgbClr val="1000EE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https://sendgrid.com/solutions/email-api/</a:t>
            </a:r>
            <a:endParaRPr sz="1200">
              <a:solidFill>
                <a:srgbClr val="1000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Github - </a:t>
            </a:r>
            <a:r>
              <a:rPr lang="en" sz="1200">
                <a:solidFill>
                  <a:srgbClr val="1000EE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https://docs.github.com/en/rest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66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67" title="Screenshot 2026-05-16 at 14.12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50" y="152400"/>
            <a:ext cx="798533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8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are webhooks?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7" name="Google Shape;477;p68"/>
          <p:cNvSpPr txBox="1"/>
          <p:nvPr>
            <p:ph idx="4294967295" type="body"/>
          </p:nvPr>
        </p:nvSpPr>
        <p:spPr>
          <a:xfrm>
            <a:off x="316900" y="1199400"/>
            <a:ext cx="69732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1200"/>
              </a:spcBef>
              <a:spcAft>
                <a:spcPts val="4200"/>
              </a:spcAft>
              <a:buNone/>
            </a:pPr>
            <a:r>
              <a:rPr lang="en" sz="1300">
                <a:solidFill>
                  <a:srgbClr val="0F0F0F"/>
                </a:solidFill>
                <a:latin typeface="Inter"/>
                <a:ea typeface="Inter"/>
                <a:cs typeface="Inter"/>
                <a:sym typeface="Inter"/>
              </a:rPr>
              <a:t>Webhooks are events that get triggered when an event is successful i.e. your girlfriend calling you when she reaches her home is analogous to webhooks.</a:t>
            </a:r>
            <a:endParaRPr sz="1300">
              <a:solidFill>
                <a:srgbClr val="0F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8" name="Google Shape;47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3025" y="2073550"/>
            <a:ext cx="4175950" cy="2348949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8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9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API vs webhooks 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486" name="Google Shape;486;p69"/>
          <p:cNvPicPr preferRelativeResize="0"/>
          <p:nvPr/>
        </p:nvPicPr>
        <p:blipFill rotWithShape="1">
          <a:blip r:embed="rId4">
            <a:alphaModFix/>
          </a:blip>
          <a:srcRect b="12900" l="0" r="0" t="0"/>
          <a:stretch/>
        </p:blipFill>
        <p:spPr>
          <a:xfrm>
            <a:off x="471500" y="1099650"/>
            <a:ext cx="5186024" cy="291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9"/>
          <p:cNvPicPr preferRelativeResize="0"/>
          <p:nvPr/>
        </p:nvPicPr>
        <p:blipFill rotWithShape="1">
          <a:blip r:embed="rId5">
            <a:alphaModFix/>
          </a:blip>
          <a:srcRect b="6050" l="0" r="0" t="0"/>
          <a:stretch/>
        </p:blipFill>
        <p:spPr>
          <a:xfrm>
            <a:off x="471500" y="1099650"/>
            <a:ext cx="5186030" cy="35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9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0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API vs webhooks 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495" name="Google Shape;495;p70"/>
          <p:cNvPicPr preferRelativeResize="0"/>
          <p:nvPr/>
        </p:nvPicPr>
        <p:blipFill rotWithShape="1">
          <a:blip r:embed="rId4">
            <a:alphaModFix/>
          </a:blip>
          <a:srcRect b="8408" l="0" r="0" t="0"/>
          <a:stretch/>
        </p:blipFill>
        <p:spPr>
          <a:xfrm>
            <a:off x="471500" y="1076600"/>
            <a:ext cx="3415800" cy="36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0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/>
          <p:cNvSpPr/>
          <p:nvPr/>
        </p:nvSpPr>
        <p:spPr>
          <a:xfrm>
            <a:off x="471500" y="476250"/>
            <a:ext cx="8305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Webhooks vs API</a:t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503" name="Google Shape;50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650" y="1142850"/>
            <a:ext cx="8192024" cy="35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1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72" title="Screenshot 2026-02-18 at 19.26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6313"/>
            <a:ext cx="8839204" cy="277088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72"/>
          <p:cNvSpPr txBox="1"/>
          <p:nvPr/>
        </p:nvSpPr>
        <p:spPr>
          <a:xfrm>
            <a:off x="206850" y="344725"/>
            <a:ext cx="5593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API and SDK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73" title="Screenshot 2026-02-18 at 19.27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900"/>
            <a:ext cx="8839201" cy="406747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73"/>
          <p:cNvSpPr txBox="1"/>
          <p:nvPr/>
        </p:nvSpPr>
        <p:spPr>
          <a:xfrm>
            <a:off x="198225" y="4378100"/>
            <a:ext cx="847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API help us to make raw connection with the server.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74" title="Screenshot 2026-02-18 at 19.22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2300"/>
            <a:ext cx="8839204" cy="392326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4"/>
          <p:cNvSpPr txBox="1"/>
          <p:nvPr/>
        </p:nvSpPr>
        <p:spPr>
          <a:xfrm>
            <a:off x="224075" y="4343625"/>
            <a:ext cx="81789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SDK are like prebuilt tools which makes all connections easy to use.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75" title="Screenshot 2026-02-18 at 19.23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534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76" title="Screenshot 2026-02-18 at 19.24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675" y="161000"/>
            <a:ext cx="5965725" cy="228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76" title="Screenshot 2026-02-18 at 19.25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000" y="2608600"/>
            <a:ext cx="2658119" cy="233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" name="Google Shape;538;p77"/>
          <p:cNvGraphicFramePr/>
          <p:nvPr/>
        </p:nvGraphicFramePr>
        <p:xfrm>
          <a:off x="298925" y="28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{85D39232-514E-4350-BF1E-C02A8D8E9897}</a:tableStyleId>
              </a:tblPr>
              <a:tblGrid>
                <a:gridCol w="1413250"/>
                <a:gridCol w="3992650"/>
                <a:gridCol w="3291275"/>
              </a:tblGrid>
              <a:tr h="40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Basis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API (Application Programming Interface)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SDK (Software Development Kit)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88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Definition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 set of rules and protocols that allows different software applications to communicate with each other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 collection of tools, libraries, documentation, and APIs used to develop applications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8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Purpose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Enables interaction between software systems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Provides everything needed to build and develop applications for a specific platform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5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Components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Endpoints, request/response formats, authentication rules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APIs, libraries, debugging tools, compilers, documentation, code samples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Usage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Used to connect applications or services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Used to create applications or features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5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Dependency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Can be used independently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Often includes one or more APIs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5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Example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Google Maps API to fetch location data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Android SDK to build Android apps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8"/>
          <p:cNvSpPr/>
          <p:nvPr/>
        </p:nvSpPr>
        <p:spPr>
          <a:xfrm>
            <a:off x="875625" y="2092825"/>
            <a:ext cx="70584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</a:t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u="sng">
                <a:solidFill>
                  <a:schemeClr val="hlink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  <a:hlinkClick r:id="rId4"/>
              </a:rPr>
              <a:t>Saksham Arora - Intuit | LinkedIn</a:t>
            </a:r>
            <a:r>
              <a:rPr lang="en" sz="3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endParaRPr sz="30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545" name="Google Shape;545;p78"/>
          <p:cNvSpPr/>
          <p:nvPr/>
        </p:nvSpPr>
        <p:spPr>
          <a:xfrm>
            <a:off x="7830250" y="4537150"/>
            <a:ext cx="1129200" cy="47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8"/>
          <p:cNvSpPr txBox="1"/>
          <p:nvPr/>
        </p:nvSpPr>
        <p:spPr>
          <a:xfrm>
            <a:off x="7826650" y="4541500"/>
            <a:ext cx="1136400" cy="4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SAKSHAM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